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0" y="-914400"/>
            <a:ext cx="4572000" cy="4572000"/>
          </a:xfrm>
          <a:prstGeom prst="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0" y="4572000"/>
            <a:ext cx="4572000" cy="36576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-457200"/>
            <a:ext cx="2743200" cy="2743200"/>
          </a:xfrm>
          <a:prstGeom prst="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0" y="1097280"/>
            <a:ext cx="4480560" cy="502920"/>
          </a:xfrm>
          <a:prstGeom prst="round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  OpenClaw × Obsidian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LLM Wiki 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0E0FF"/>
                </a:solidFill>
              </a:rPr>
              <a:t>用 OpenClaw + Obsidian 打造"会自己生长"的知识库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749039"/>
            <a:ext cx="5760720" cy="36576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AABB"/>
                </a:solidFill>
              </a:rPr>
              <a:t>来源：微信公众号 赖翔  |  2026年4月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AABB"/>
                </a:solidFill>
              </a:rPr>
              <a:t>复刻 Karpathy 大神提出的 AI 知识库自进化架构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什么是 LLM Wiki 模式？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1280160"/>
          </a:xfrm>
          <a:prstGeom prst="rect">
            <a:avLst/>
          </a:prstGeom>
          <a:solidFill>
            <a:srgbClr val="2A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5CF5"/>
                </a:solidFill>
              </a:rPr>
              <a:t>💡  核心思想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让 LLM 自己管理和组织知识库——不是把 AI 当工具，而是让它参与知识的生产、索引和更新过程，形成一个「会自己生长」的知识体系。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11247120" cy="914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C4E"/>
                </a:solidFill>
              </a:rPr>
              <a:t>📌  来源背景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2026年4月初，Andrej Karpathy（OpenAI 联合创始人、AI 界顶流）发推提出此模式，立即引发 AI 玩家圈广泛讨论。核心灵感来自 Wikipedia 的协作模式，但由 AI 驱动。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3474720" cy="822960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摄入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AABB"/>
                </a:solidFill>
              </a:rPr>
              <a:t>新内容入库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3931920"/>
            <a:ext cx="3474720" cy="822960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查询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AABB"/>
                </a:solidFill>
              </a:rPr>
              <a:t>精准信息检索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931920"/>
            <a:ext cx="3474720" cy="822960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健康检查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AABB"/>
                </a:solidFill>
              </a:rPr>
              <a:t>质量持续优化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三种核心工作流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274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C5CF5"/>
                </a:solidFill>
              </a:rPr>
              <a:t>INGEST  ·  QUERY  ·  LINT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749039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73152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EFF9C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5727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AABB"/>
                </a:solidFill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摄入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EFF9C"/>
                </a:solidFill>
              </a:rPr>
              <a:t>放入新文章/数据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17520"/>
            <a:ext cx="34747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LLM 读取原始素材（PDF、网页、笔记）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2160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分析内容，提炼知识点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28853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自动更新 Wiki 索引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554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追加到操作日志 log.md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188720"/>
            <a:ext cx="3749039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188720"/>
            <a:ext cx="3749039" cy="73152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9C4E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5727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AABB"/>
                </a:solidFill>
              </a:rPr>
              <a:t>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0574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9C4E"/>
                </a:solidFill>
              </a:rPr>
              <a:t>你提问 → LLM 精准回答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017520"/>
            <a:ext cx="34747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用户用自然语言提问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72160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LLM 先读 index.md 定位相关页面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28853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搜索 Wiki 找相关知识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8554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回答用户，好的答案自动存为新 Wiki 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1188720"/>
            <a:ext cx="3749039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21040" y="1188720"/>
            <a:ext cx="3749039" cy="73152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6B9C"/>
                </a:solidFill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15727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AABB"/>
                </a:solidFill>
              </a:rPr>
              <a:t>LINT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20574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健康检查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6B9C"/>
                </a:solidFill>
              </a:rPr>
              <a:t>定期维护知识库质量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017520"/>
            <a:ext cx="34747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1546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检查知识矛盾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2160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找出孤儿页（无引用页面）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428853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标记过时声明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48554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▸  补充缺失的引用关系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两个关键文件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66928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73152"/>
          </a:xfrm>
          <a:prstGeom prst="rect">
            <a:avLst/>
          </a:prstGeom>
          <a:solidFill>
            <a:srgbClr val="4EF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645920" cy="457200"/>
          </a:xfrm>
          <a:prstGeom prst="round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EFFD4"/>
                </a:solidFill>
              </a:rPr>
              <a:t>index.md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内容导向索引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06040"/>
            <a:ext cx="53035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LLM 查询时第一个读取的文件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47287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按主题分类，链接到各个 Wiki 页面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0565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像书的目录，但由 AI 动态维护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6402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新增内容后自动更新索引结构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188720"/>
            <a:ext cx="5669280" cy="4846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88720"/>
            <a:ext cx="5669280" cy="73152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46520" y="1417320"/>
            <a:ext cx="1645920" cy="457200"/>
          </a:xfrm>
          <a:prstGeom prst="round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EFFD4"/>
                </a:solidFill>
              </a:rPr>
              <a:t>log.md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追加式操作日志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606040"/>
            <a:ext cx="53035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78892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每次 LLM 操作都追加记录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47287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固定前缀格式（时间戳+操作类型）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105656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可用 Unix 工具（grep/awk）解析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764024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0E0FF"/>
                </a:solidFill>
              </a:rPr>
              <a:t>•  可回溯、可审计、可重现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OpenClaw + Obsidian = 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C5CF5"/>
                </a:solidFill>
              </a:rPr>
              <a:t>LLM Wiki 的完美载体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03520" cy="73152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6C5CF5"/>
                </a:solidFill>
              </a:rPr>
              <a:t>🤖  OpenClaw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0FF"/>
                </a:solidFill>
              </a:rPr>
              <a:t>充当 LLM Wiki 的「执行引擎」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24/7 在线，自动响应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记忆系统积累人格和偏好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Skills 系统扩展能力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支持飞书、微信等多渠道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Obsidian MCP 连接笔记库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自动化定期执行 Lint 检查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40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Webhook 触发自动化流程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AAAABB"/>
                </a:solidFill>
              </a:rPr>
              <a:t>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188720"/>
            <a:ext cx="5303520" cy="73152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4173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EFF9C"/>
                </a:solidFill>
              </a:rPr>
              <a:t>📓  Obsidian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920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0FF"/>
                </a:solidFill>
              </a:rPr>
              <a:t>充当 LLM Wiki 的「存储层」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423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本地 Markdown 文件，AI 直接读写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926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双向链接构建知识图谱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429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图谱视图可视化知识关系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931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插件生态（5000+ 插件）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434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Git 版本控制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937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完全私有，不依赖云服务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440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✓  CLAUDE.md 注入项目规范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自动化工作流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2103120" cy="2560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03120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C5CF5"/>
                </a:solidFill>
              </a:rPr>
              <a:t>📥 摄入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放入素材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PDF/网页/笔记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79" y="2377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371600"/>
            <a:ext cx="2103120" cy="2560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34640" y="1371600"/>
            <a:ext cx="2103120" cy="6400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EFF9C"/>
                </a:solidFill>
              </a:rPr>
              <a:t>🧠 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1488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LLM 提炼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743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知识点提取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1371600"/>
            <a:ext cx="2103120" cy="2560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371600"/>
            <a:ext cx="2103120" cy="6400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9C4E"/>
                </a:solidFill>
              </a:rPr>
              <a:t>📝 写入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9" y="21488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更新 Wiki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2743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修改 index.md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377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1371600"/>
            <a:ext cx="2103120" cy="2560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1371600"/>
            <a:ext cx="2103120" cy="6400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6B9C"/>
                </a:solidFill>
              </a:rPr>
              <a:t>📋 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1488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追加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743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操作留痕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3774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41280" y="1371600"/>
            <a:ext cx="2103120" cy="25603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241280" y="1371600"/>
            <a:ext cx="2103120" cy="64008"/>
          </a:xfrm>
          <a:prstGeom prst="rect">
            <a:avLst/>
          </a:prstGeom>
          <a:solidFill>
            <a:srgbClr val="4EF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15544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EFFD4"/>
                </a:solidFill>
              </a:rPr>
              <a:t>🔍 查询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19" y="214884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自然语言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19" y="27432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0E0FF"/>
                </a:solidFill>
              </a:rPr>
              <a:t>精准回答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297680"/>
            <a:ext cx="11430000" cy="1645920"/>
          </a:xfrm>
          <a:prstGeom prst="rect">
            <a:avLst/>
          </a:prstGeom>
          <a:solidFill>
            <a:srgbClr val="2A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480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C4E"/>
                </a:solidFill>
              </a:rPr>
              <a:t>🛠️  定期 LINT 健康检查（OpenClaw Cron 自动执行）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83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检查矛盾：同一主题的新旧观点是否冲突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4406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孤儿页扫描：哪些页面没有被任何页面引用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983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过时声明：事实是否已发生变化需要更新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4406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引用修复：补充 Wiki 页面之间的链接关系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0" y="-457200"/>
            <a:ext cx="6400800" cy="7772400"/>
          </a:xfrm>
          <a:prstGeom prst="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核心洞察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5CF5"/>
                </a:solidFill>
              </a:rP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不是 AI 帮你找知识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而是让 AI 成为知识生产的一环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231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5CF5"/>
                </a:solidFill>
              </a:rPr>
              <a:t>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知识是动态的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不是静态存档，是会自己更新的生命体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5CF5"/>
                </a:solidFill>
              </a:rPr>
              <a:t>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两层架构最稳定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OpenClaw（执行）+ Obsidian（存储）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920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C5CF5"/>
                </a:solidFill>
              </a:rP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飞轮效应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49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用得越多，知识库越精准，越有价值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914400"/>
            <a:ext cx="6583680" cy="502920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914400"/>
            <a:ext cx="73152" cy="502920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9144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6C5CF5"/>
                </a:solidFill>
              </a:rPr>
              <a:t>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1645920"/>
            <a:ext cx="5852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0E0FF"/>
                </a:solidFill>
              </a:rPr>
              <a:t>LLM Wiki 的本质是：
让 AI 参与知识的生产、
组织与更新，
形成一个自进化的知识飞轮。
不是你在管理知识库，
是知识库自己在成长。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54864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— 复刻自 Andrej Karpathy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1：搭建 Obsidian Vault 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5CF5"/>
                </a:solidFill>
              </a:rPr>
              <a:t>推荐三层架构：raw → wiki →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3474720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749039" cy="6400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371600" cy="457200"/>
          </a:xfrm>
          <a:prstGeom prst="round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raw/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原始素材层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PDF、文章、网页摘录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63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会议记录、灵感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所有未处理的原始内容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5603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AAAABB"/>
                </a:solidFill>
              </a:rPr>
              <a:t>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188720"/>
            <a:ext cx="3749039" cy="3474720"/>
          </a:xfrm>
          <a:prstGeom prst="rect">
            <a:avLst/>
          </a:prstGeom>
          <a:solidFill>
            <a:srgbClr val="2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188720"/>
            <a:ext cx="3749039" cy="6400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60" y="1371600"/>
            <a:ext cx="1371600" cy="457200"/>
          </a:xfrm>
          <a:prstGeom prst="round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wiki/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9659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知识 Wiki 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68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index.md（总索引）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063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主题页：AI/编程/产品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每个概念一个 .md 文件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560320"/>
            <a:ext cx="274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AAAABB"/>
                </a:solidFill>
              </a:rPr>
              <a:t>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1188720"/>
            <a:ext cx="3749039" cy="3474720"/>
          </a:xfrm>
          <a:prstGeom prst="rect">
            <a:avLst/>
          </a:prstGeom>
          <a:solidFill>
            <a:srgbClr val="3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188720"/>
            <a:ext cx="3749039" cy="6400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1371600"/>
            <a:ext cx="1371600" cy="457200"/>
          </a:xfrm>
          <a:prstGeom prst="round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output/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9659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输出层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468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每周摘要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063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研究报告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6576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•  沉淀的洞见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846320"/>
            <a:ext cx="11430000" cy="118872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8EFF"/>
                </a:solidFill>
              </a:rPr>
              <a:t>🔑  必须创建的文件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index.md（内容索引）+ log.md（操作日志） + CLAUDE.md（AI 规范） + SCHEMA.md（模板规范）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2：连接 OpenClaw 与 Obsidian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5CF5"/>
                </a:solidFill>
              </a:rPr>
              <a:t>通过 MCP 和 Skills 实现双向通信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9496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5394960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5CF5"/>
                </a:solidFill>
              </a:rPr>
              <a:t>OpenClaw 配置 MCP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9659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编辑配置文件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86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openclaw.yaml 添加 Obsidian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安装 Obsidian 插件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37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Community Plugin: Obsidian Git（自动同步）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69079"/>
            <a:ext cx="457200" cy="45720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0690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配置 vault 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389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~/.config/openclaw/mcp_settings.json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188720"/>
            <a:ext cx="548640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188720"/>
            <a:ext cx="5486400" cy="6400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417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EFF9C"/>
                </a:solidFill>
              </a:rPr>
              <a:t>核心 Skill（开箱即用）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1920240"/>
            <a:ext cx="1463040" cy="384048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B38EFF"/>
                </a:solidFill>
              </a:rPr>
              <a:t>obsidian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19202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读写 Obsidian 笔记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22677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直接修改 vault 里的 md 文件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670048"/>
            <a:ext cx="1463040" cy="384048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B38EFF"/>
                </a:solidFill>
              </a:rPr>
              <a:t>filesystem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6700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文件系统操作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0175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创建目录、移动文件、自动分类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419856"/>
            <a:ext cx="1463040" cy="384048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B38EFF"/>
                </a:solidFill>
              </a:rPr>
              <a:t>web-search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34198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网络搜索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7673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摄入新内容时抓取网页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169664"/>
            <a:ext cx="1463040" cy="384048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B38EFF"/>
                </a:solidFill>
              </a:rPr>
              <a:t>cron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6966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定时任务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451713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定期执行 Lint 健康检查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0" y="4919472"/>
            <a:ext cx="1463040" cy="384048"/>
          </a:xfrm>
          <a:prstGeom prst="roundRect">
            <a:avLst/>
          </a:prstGeom>
          <a:solidFill>
            <a:srgbClr val="3A2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B38EFF"/>
                </a:solidFill>
              </a:rPr>
              <a:t>memory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491947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526694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跨会话积累偏好和上下文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3：Ingest — 让 AI 自动摄入新知识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5CF5"/>
                </a:solidFill>
              </a:rPr>
              <a:t>收到素材 → 分析 → 写入 Wiki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43200" cy="3200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2743200" cy="64008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C5CF5"/>
                </a:solidFill>
              </a:rPr>
              <a:t>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25603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你：把这篇文章存入知识库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（或者 OpenClaw 自动监控 RSS/邮件）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4688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234440"/>
            <a:ext cx="2743200" cy="3200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34440"/>
            <a:ext cx="2743200" cy="64008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FF9C"/>
                </a:solidFill>
              </a:rPr>
              <a:t>分析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011680"/>
            <a:ext cx="25603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LLM 读取 raw/ 里的原始内容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提炼：主题、概念、关键观点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337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识别：与现有 Wiki 的关联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4688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234440"/>
            <a:ext cx="2743200" cy="3200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234440"/>
            <a:ext cx="2743200" cy="6400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C4E"/>
                </a:solidFill>
              </a:rPr>
              <a:t>写入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011680"/>
            <a:ext cx="25603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更新 wiki/ 下的相关页面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补充 [[双向链接]] 关系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337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修改 index.md 索引结构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24688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AAABB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1234440"/>
            <a:ext cx="2743200" cy="320040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1234440"/>
            <a:ext cx="2743200" cy="6400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14173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9C"/>
                </a:solidFill>
              </a:rPr>
              <a:t>记录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2011680"/>
            <a:ext cx="2560320" cy="22860"/>
          </a:xfrm>
          <a:prstGeom prst="rect">
            <a:avLst/>
          </a:prstGeom>
          <a:solidFill>
            <a:srgbClr val="3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1488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追加到 log.md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27432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格式：[时间戳] INGEST - 操作描述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337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0FF"/>
                </a:solidFill>
              </a:rPr>
              <a:t>可用于回溯和审计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663440"/>
            <a:ext cx="11430000" cy="1371600"/>
          </a:xfrm>
          <a:prstGeom prst="rect">
            <a:avLst/>
          </a:prstGeom>
          <a:solidFill>
            <a:srgbClr val="2A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8006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38EFF"/>
                </a:solidFill>
              </a:rPr>
              <a:t>💬 触发 Prompt 示例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E0FF"/>
                </a:solidFill>
              </a:rPr>
              <a:t>"把这篇关于 RAG 的文章存入知识库。我希望：1) 提炼 3 个核心观点  2) 更新相关主题页的链接  3) 在 index.md 添加入口"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4 &amp; 5：Query 查询 + Lint 健康检查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577840" cy="64008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C4E"/>
                </a:solidFill>
              </a:rPr>
              <a:t>🔍  Query 工作流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1. 你提出自然语言问题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2. OpenClaw 读取 index.md 定位相关页面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39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3. 在 wiki/ 中搜索相关内容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79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4. LLM 整合多个来源回答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5. 好答案自动存为新 Wiki 页面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0E0FF"/>
                </a:solidFill>
              </a:rPr>
              <a:t>▸  6. 更新 index.md 索引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38EFF"/>
                </a:solidFill>
              </a:rPr>
              <a:t>💬 示例问题：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0E0FF"/>
                </a:solidFill>
              </a:rPr>
              <a:t>"RAG 和 LLM Wiki 的核心区别是什么？"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5577840" cy="475488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5577840" cy="64008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6B9C"/>
                </a:solidFill>
              </a:rPr>
              <a:t>🛠️  Lint 健康检查（定时自动）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9C"/>
                </a:solidFill>
              </a:rPr>
              <a:t>🔀 矛盾检测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67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同一主题的新旧观点是否冲突？标记需要复核的页面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249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9C"/>
                </a:solidFill>
              </a:rPr>
              <a:t>📄 孤儿页扫描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哪些页面没有被任何页面引用？补上 [[链接]] 或删除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5295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9C"/>
                </a:solidFill>
              </a:rPr>
              <a:t>⏰ 过时声明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770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哪些内容可能已过期？标记为「待验证」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342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9C"/>
                </a:solidFill>
              </a:rPr>
              <a:t>🔗 引用修复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817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是否有关键引用缺失？补充相关页面链接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389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9C"/>
                </a:solidFill>
              </a:rPr>
              <a:t>📊 统计报告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48640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本周新增多少页面？最活跃的主题是什么？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394960"/>
            <a:ext cx="5577840" cy="640080"/>
          </a:xfrm>
          <a:prstGeom prst="rect">
            <a:avLst/>
          </a:prstGeom>
          <a:solidFill>
            <a:srgbClr val="2A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86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C4E"/>
                </a:solidFill>
              </a:rPr>
              <a:t>⏰  建议每周一自动运行一次 Lint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🚀 快速上手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5CF5"/>
                </a:solidFill>
              </a:rPr>
              <a:t>30 分钟启动你的 LLM Wiki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669280" cy="54864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356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5CF5"/>
                </a:solidFill>
              </a:rPr>
              <a:t>Obsidian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创建 vault，搭好 raw/wiki/output 三层目录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3444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669280" cy="54864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417320"/>
            <a:ext cx="502920" cy="502920"/>
          </a:xfrm>
          <a:prstGeom prst="rect">
            <a:avLst/>
          </a:prstGeom>
          <a:solidFill>
            <a:srgbClr val="4EF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356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FF9C"/>
                </a:solidFill>
              </a:rPr>
              <a:t>index.md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创建入口索引文件，包含各主题分类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2316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423160"/>
            <a:ext cx="5669280" cy="54864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502920" cy="502920"/>
          </a:xfrm>
          <a:prstGeom prst="rect">
            <a:avLst/>
          </a:prstGeom>
          <a:solidFill>
            <a:srgbClr val="FF6B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6243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2560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9C"/>
                </a:solidFill>
              </a:rPr>
              <a:t>log.md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926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创建操作日志文件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2316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423160"/>
            <a:ext cx="5669280" cy="54864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606040"/>
            <a:ext cx="502920" cy="502920"/>
          </a:xfrm>
          <a:prstGeom prst="rect">
            <a:avLst/>
          </a:prstGeom>
          <a:solidFill>
            <a:srgbClr val="FF9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2432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560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C4E"/>
                </a:solidFill>
              </a:rPr>
              <a:t>CLAUDE.md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260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写好 AI 行为规范（角色、能力边界）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61188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611880"/>
            <a:ext cx="5669280" cy="54864"/>
          </a:xfrm>
          <a:prstGeom prst="rect">
            <a:avLst/>
          </a:prstGeom>
          <a:solidFill>
            <a:srgbClr val="4EF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94760"/>
            <a:ext cx="502920" cy="502920"/>
          </a:xfrm>
          <a:prstGeom prst="rect">
            <a:avLst/>
          </a:prstGeom>
          <a:solidFill>
            <a:srgbClr val="4EF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8130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3749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FFD4"/>
                </a:solidFill>
              </a:rPr>
              <a:t>OpenClaw 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1148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连接 Obsidian vault 路径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61188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3611880"/>
            <a:ext cx="5669280" cy="54864"/>
          </a:xfrm>
          <a:prstGeom prst="rect">
            <a:avLst/>
          </a:prstGeom>
          <a:solidFill>
            <a:srgbClr val="B3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3794760"/>
            <a:ext cx="502920" cy="502920"/>
          </a:xfrm>
          <a:prstGeom prst="rect">
            <a:avLst/>
          </a:prstGeom>
          <a:solidFill>
            <a:srgbClr val="B38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8130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749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38EFF"/>
                </a:solidFill>
              </a:rPr>
              <a:t>首次 Ingest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1148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丢一篇文章进去，看 AI 如何处理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80060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800600"/>
            <a:ext cx="5669280" cy="54864"/>
          </a:xfrm>
          <a:prstGeom prst="rect">
            <a:avLst/>
          </a:prstGeom>
          <a:solidFill>
            <a:srgbClr val="FFD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983480"/>
            <a:ext cx="502920" cy="502920"/>
          </a:xfrm>
          <a:prstGeom prst="rect">
            <a:avLst/>
          </a:prstGeom>
          <a:solidFill>
            <a:srgbClr val="FFD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00176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4937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47A"/>
                </a:solidFill>
              </a:rPr>
              <a:t>设置 Cron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3035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配置每周 Lint 自动健康检查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800600"/>
            <a:ext cx="5669280" cy="1005840"/>
          </a:xfrm>
          <a:prstGeom prst="rect">
            <a:avLst/>
          </a:prstGeom>
          <a:solidFill>
            <a:srgbClr val="22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4800600"/>
            <a:ext cx="5669280" cy="54864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4983480"/>
            <a:ext cx="502920" cy="502920"/>
          </a:xfrm>
          <a:prstGeom prst="rect">
            <a:avLst/>
          </a:prstGeom>
          <a:solidFill>
            <a:srgbClr val="6C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00176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937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C5CF5"/>
                </a:solidFill>
              </a:rPr>
              <a:t>持续迭代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0" y="53035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根据反馈调整 CLAUDE.md 和 wiki 结构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C5CF5"/>
                </a:solidFill>
              </a:rPr>
              <a:t>📊 Karpathy 三层架构</a:t>
            </a:r>
          </a:p>
        </p:txBody>
      </p:sp>
      <p:pic>
        <p:nvPicPr>
          <p:cNvPr id="4" name="Picture 3" descr="知识库参考图_1_Karpathy三层架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AAABB"/>
                </a:solidFill>
              </a:rPr>
              <a:t>底层：Raw Materials | 中层：Wiki Layer | 顶层：Schema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C5CF5"/>
                </a:solidFill>
              </a:rPr>
              <a:t>📊 四工具工作流</a:t>
            </a:r>
          </a:p>
        </p:txBody>
      </p:sp>
      <p:pic>
        <p:nvPicPr>
          <p:cNvPr id="4" name="Picture 3" descr="知识库参考图_1_Karpathy三层架构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AAABB"/>
                </a:solidFill>
              </a:rPr>
              <a:t>Clipper → Dataview → Graph View → Marp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C5CF5"/>
                </a:solidFill>
              </a:rPr>
              <a:t>📊 AI 第二大脑的价值</a:t>
            </a:r>
          </a:p>
        </p:txBody>
      </p:sp>
      <p:pic>
        <p:nvPicPr>
          <p:cNvPr id="4" name="Picture 3" descr="知识库参考图_3_AI第二大脑价值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AAABB"/>
                </a:solidFill>
              </a:rPr>
              <a:t>统一沉淀 | 检索复用 | 增值数字资产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C5CF5"/>
                </a:solidFill>
              </a:rPr>
              <a:t>📊 四工具详情</a:t>
            </a:r>
          </a:p>
        </p:txBody>
      </p:sp>
      <p:pic>
        <p:nvPicPr>
          <p:cNvPr id="4" name="Picture 3" descr="知识库参考图_4_四工具详情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2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AAABB"/>
                </a:solidFill>
              </a:rPr>
              <a:t>拉进来(Clipper) | 查出来(Dataview) | 选出来(Graph) | 讲出去(Marp)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
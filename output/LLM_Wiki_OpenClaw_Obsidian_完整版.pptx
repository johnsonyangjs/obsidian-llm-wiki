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0" y="-914400"/>
            <a:ext cx="4572000" cy="4572000"/>
          </a:xfrm>
          <a:prstGeom prst="rect">
            <a:avLst/>
          </a:prstGeom>
          <a:solidFill>
            <a:srgbClr val="2A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0" y="4572000"/>
            <a:ext cx="4572000" cy="365760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0" y="-457200"/>
            <a:ext cx="2743200" cy="2743200"/>
          </a:xfrm>
          <a:prstGeom prst="rect">
            <a:avLst/>
          </a:prstGeom>
          <a:solidFill>
            <a:srgbClr val="3A2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0" y="1097280"/>
            <a:ext cx="3200400" cy="384048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0" y="1143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OpenClaw × Obsidian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LLM Wiki 模式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0E0FF"/>
                </a:solidFill>
              </a:rPr>
              <a:t>用 OpenClaw + Obsidian 打造"会自己生长"的知识库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3657600"/>
            <a:ext cx="5760720" cy="36576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AABB"/>
                </a:solidFill>
              </a:rPr>
              <a:t>复刻 Karpathy 大神的 AI 知识库自进化架构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参考：微信公众号 赖翔 · Aki聊AI  |  2026年4月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github.com/yjs760601/obsidian-llm-wiki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什么是 LLM Wiki 模式？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1280160"/>
          </a:xfrm>
          <a:prstGeom prst="rect">
            <a:avLst/>
          </a:prstGeom>
          <a:solidFill>
            <a:srgbClr val="2A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FF9C"/>
                </a:solidFill>
              </a:rPr>
              <a:t>💡  核心思想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让 LLM 自己管理和组织知识库——不是把 AI 当工具，而是让它参与知识的生产、索引和更新过程，形成一个「会自己生长」的知识体系。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51760"/>
            <a:ext cx="11247120" cy="91440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9C4E"/>
                </a:solidFill>
              </a:rPr>
              <a:t>📌  来源背景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2026年4月初，Andrej Karpathy 发推提出此模式，立即引发 AI 玩家圈广泛讨论。核心灵感来自 Wikipedia 的协作模式，但由 AI 驱动。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40480"/>
            <a:ext cx="3749039" cy="11887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3749039" cy="64008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C5CF5"/>
                </a:solidFill>
              </a:rPr>
              <a:t>自生长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572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AI 持续生成新内容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3840480"/>
            <a:ext cx="3749039" cy="11887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3840480"/>
            <a:ext cx="3749039" cy="64008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4023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C5CF5"/>
                </a:solidFill>
              </a:rPr>
              <a:t>自治理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572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Schema 层督导规范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3840480"/>
            <a:ext cx="3749039" cy="11887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21040" y="3840480"/>
            <a:ext cx="3749039" cy="64008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4023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C5CF5"/>
                </a:solidFill>
              </a:rPr>
              <a:t>自进化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572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长期积累形成数字资产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github.com/yjs760601/obsidian-llm-wiki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三层架构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274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Karpathy 三层架构  vs  咱们方案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669280" cy="16459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73152" cy="1645920"/>
          </a:xfrm>
          <a:prstGeom prst="rect">
            <a:avLst/>
          </a:prstGeom>
          <a:solidFill>
            <a:srgbClr val="FF9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9C4E"/>
                </a:solidFill>
              </a:rPr>
              <a:t>Raw Materials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原始资料层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['文章 / 论文 / 图片 / 数据文件', 'AI 只读不改，事实源头']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5669280" cy="16459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17520"/>
            <a:ext cx="73152" cy="1645920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1089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C5CF5"/>
                </a:solidFill>
              </a:rPr>
              <a:t>Wiki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74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Wiki 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['摘要 / 概念 / 实体 / 对比 / 索引', 'AI 持续生成和维护']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46320"/>
            <a:ext cx="5669280" cy="16459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846320"/>
            <a:ext cx="73152" cy="1645920"/>
          </a:xfrm>
          <a:prstGeom prst="rect">
            <a:avLst/>
          </a:prstGeom>
          <a:solidFill>
            <a:srgbClr val="4EF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93775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EFF9C"/>
                </a:solidFill>
              </a:rPr>
              <a:t>Schema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035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Schema 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60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['操作手册 / 命名规范 / 更新规则', 'AI 的规则文档，督导治理']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1188720"/>
            <a:ext cx="5303520" cy="48463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1188720"/>
            <a:ext cx="5303520" cy="45720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261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FF9C"/>
                </a:solidFill>
              </a:rPr>
              <a:t>🚀 咱们方案的升级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17373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✅  auto_ingest.py 自动生成 summary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30428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✅  Cron 定时检测新文件（每15分钟）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871215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✅  TF-IDF 提取关键词与摘要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43814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✅  CLAUDE.md 定义 Schema 督导规则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✅  写回触发：AI 主动更新 wiki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5720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✅  lint_wiki.py 定期健康检查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138927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✅  QMD 语义搜索（Gateway 重启后）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github.com/yjs760601/obsidian-llm-wiki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📊 Karpathy 三层架构 vs 咱们方案</a:t>
            </a:r>
          </a:p>
        </p:txBody>
      </p:sp>
      <p:pic>
        <p:nvPicPr>
          <p:cNvPr id="4" name="Picture 3" descr="知识库参考图_1_Karpathy三层架构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58368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46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来源：Aki聊AI</a:t>
            </a:r>
          </a:p>
        </p:txBody>
      </p:sp>
      <p:sp>
        <p:nvSpPr>
          <p:cNvPr id="6" name="Rectangle 5"/>
          <p:cNvSpPr/>
          <p:nvPr/>
        </p:nvSpPr>
        <p:spPr>
          <a:xfrm>
            <a:off x="6903720" y="1097280"/>
            <a:ext cx="36576" cy="5303520"/>
          </a:xfrm>
          <a:prstGeom prst="rect">
            <a:avLst/>
          </a:prstGeom>
          <a:solidFill>
            <a:srgbClr val="4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0" y="1097280"/>
            <a:ext cx="5029200" cy="45720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17043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FF9C"/>
                </a:solidFill>
              </a:rPr>
              <a:t>🚀 咱们方案的升级点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1691640"/>
            <a:ext cx="5029200" cy="347472"/>
          </a:xfrm>
          <a:prstGeom prst="rect">
            <a:avLst/>
          </a:prstGeom>
          <a:solidFill>
            <a:srgbClr val="2A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172821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5CF5"/>
                </a:solidFill>
              </a:rPr>
              <a:t>  1. 自动化 ingest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0574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图里手动整理 raw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40487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咱们 auto_ingest 自动生成 summary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2862072"/>
            <a:ext cx="5029200" cy="347472"/>
          </a:xfrm>
          <a:prstGeom prst="rect">
            <a:avLst/>
          </a:prstGeom>
          <a:solidFill>
            <a:srgbClr val="2A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289864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5CF5"/>
                </a:solidFill>
              </a:rPr>
              <a:t>  2. 持续运营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22783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图里偏静态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575303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咱们 Cron 自动检测新文件、lint 健康检查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4032504"/>
            <a:ext cx="5029200" cy="347472"/>
          </a:xfrm>
          <a:prstGeom prst="rect">
            <a:avLst/>
          </a:prstGeom>
          <a:solidFill>
            <a:srgbClr val="2A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40690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5CF5"/>
                </a:solidFill>
              </a:rPr>
              <a:t>  3. Schema 督导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39826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CLAUDE.md 定义规则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745736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但治理机制待完善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github.com/yjs760601/obsidian-llm-wiki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📊 四工具工作流 vs 咱们方案</a:t>
            </a:r>
          </a:p>
        </p:txBody>
      </p:sp>
      <p:pic>
        <p:nvPicPr>
          <p:cNvPr id="4" name="Picture 3" descr="知识库参考图_1_Karpathy三层架构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58368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46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来源：Aki聊AI</a:t>
            </a:r>
          </a:p>
        </p:txBody>
      </p:sp>
      <p:sp>
        <p:nvSpPr>
          <p:cNvPr id="6" name="Rectangle 5"/>
          <p:cNvSpPr/>
          <p:nvPr/>
        </p:nvSpPr>
        <p:spPr>
          <a:xfrm>
            <a:off x="6903720" y="1097280"/>
            <a:ext cx="36576" cy="5303520"/>
          </a:xfrm>
          <a:prstGeom prst="rect">
            <a:avLst/>
          </a:prstGeom>
          <a:solidFill>
            <a:srgbClr val="4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0" y="1097280"/>
            <a:ext cx="5029200" cy="45720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17043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FF9C"/>
                </a:solidFill>
              </a:rPr>
              <a:t>🚀 咱们方案的升级点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1691640"/>
            <a:ext cx="5029200" cy="347472"/>
          </a:xfrm>
          <a:prstGeom prst="rect">
            <a:avLst/>
          </a:prstGeom>
          <a:solidFill>
            <a:srgbClr val="2A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172821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5CF5"/>
                </a:solidFill>
              </a:rPr>
              <a:t>  1. 自动化程度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0574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图里工具独立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40487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咱们 watcher 监控 + Cron 自动触发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2862072"/>
            <a:ext cx="5029200" cy="347472"/>
          </a:xfrm>
          <a:prstGeom prst="rect">
            <a:avLst/>
          </a:prstGeom>
          <a:solidFill>
            <a:srgbClr val="2A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289864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5CF5"/>
                </a:solidFill>
              </a:rPr>
              <a:t>  2. Query 体验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22783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图里用 Dataview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575303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咱们用 QMD 语义搜索（更智能）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4032504"/>
            <a:ext cx="5029200" cy="347472"/>
          </a:xfrm>
          <a:prstGeom prst="rect">
            <a:avLst/>
          </a:prstGeom>
          <a:solidFill>
            <a:srgbClr val="2A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40690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5CF5"/>
                </a:solidFill>
              </a:rPr>
              <a:t>  3.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39826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图里用 Marp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745736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咱们 python-pptx 自动生成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github.com/yjs760601/obsidian-llm-wiki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📊 AI 第二大脑的价值 vs 咱们方案</a:t>
            </a:r>
          </a:p>
        </p:txBody>
      </p:sp>
      <p:pic>
        <p:nvPicPr>
          <p:cNvPr id="4" name="Picture 3" descr="知识库参考图_3_AI第二大脑价值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58368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46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来源：Aki聊AI</a:t>
            </a:r>
          </a:p>
        </p:txBody>
      </p:sp>
      <p:sp>
        <p:nvSpPr>
          <p:cNvPr id="6" name="Rectangle 5"/>
          <p:cNvSpPr/>
          <p:nvPr/>
        </p:nvSpPr>
        <p:spPr>
          <a:xfrm>
            <a:off x="6903720" y="1097280"/>
            <a:ext cx="36576" cy="5303520"/>
          </a:xfrm>
          <a:prstGeom prst="rect">
            <a:avLst/>
          </a:prstGeom>
          <a:solidFill>
            <a:srgbClr val="4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0" y="1097280"/>
            <a:ext cx="5029200" cy="45720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17043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FF9C"/>
                </a:solidFill>
              </a:rPr>
              <a:t>🚀 咱们方案的升级点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1691640"/>
            <a:ext cx="5029200" cy="347472"/>
          </a:xfrm>
          <a:prstGeom prst="rect">
            <a:avLst/>
          </a:prstGeom>
          <a:solidFill>
            <a:srgbClr val="2A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172821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5CF5"/>
                </a:solidFill>
              </a:rPr>
              <a:t>  1. 统一沉淀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0574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图里手动分类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40487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咱们 auto_ingest 自动分类 articles/papers/notes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2862072"/>
            <a:ext cx="5029200" cy="347472"/>
          </a:xfrm>
          <a:prstGeom prst="rect">
            <a:avLst/>
          </a:prstGeom>
          <a:solidFill>
            <a:srgbClr val="2A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289864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5CF5"/>
                </a:solidFill>
              </a:rPr>
              <a:t>  2. 检索复用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22783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图里靠 Dataview 查询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575303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咱们 QMD 语义搜索 + Dataview 双轨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4032504"/>
            <a:ext cx="5029200" cy="347472"/>
          </a:xfrm>
          <a:prstGeom prst="rect">
            <a:avLst/>
          </a:prstGeom>
          <a:solidFill>
            <a:srgbClr val="2A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40690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5CF5"/>
                </a:solidFill>
              </a:rPr>
              <a:t>  3. 数字资产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39826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咱们输出：D3图谱、wiki-graph.html、PPT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github.com/yjs760601/obsidian-llm-wiki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📊 四工具详情 vs 咱们方案</a:t>
            </a:r>
          </a:p>
        </p:txBody>
      </p:sp>
      <p:pic>
        <p:nvPicPr>
          <p:cNvPr id="4" name="Picture 3" descr="知识库参考图_4_四工具详情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58368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46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来源：Aki聊AI</a:t>
            </a:r>
          </a:p>
        </p:txBody>
      </p:sp>
      <p:sp>
        <p:nvSpPr>
          <p:cNvPr id="6" name="Rectangle 5"/>
          <p:cNvSpPr/>
          <p:nvPr/>
        </p:nvSpPr>
        <p:spPr>
          <a:xfrm>
            <a:off x="6903720" y="1097280"/>
            <a:ext cx="36576" cy="5303520"/>
          </a:xfrm>
          <a:prstGeom prst="rect">
            <a:avLst/>
          </a:prstGeom>
          <a:solidFill>
            <a:srgbClr val="4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0" y="1097280"/>
            <a:ext cx="5029200" cy="45720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17043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FF9C"/>
                </a:solidFill>
              </a:rPr>
              <a:t>🚀 咱们方案的升级点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1691640"/>
            <a:ext cx="5029200" cy="347472"/>
          </a:xfrm>
          <a:prstGeom prst="rect">
            <a:avLst/>
          </a:prstGeom>
          <a:solidFill>
            <a:srgbClr val="2A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172821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5CF5"/>
                </a:solidFill>
              </a:rPr>
              <a:t>  1. 拉进来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0574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Clipper → Clippings → watcher → auto_ingest 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2514600"/>
            <a:ext cx="5029200" cy="347472"/>
          </a:xfrm>
          <a:prstGeom prst="rect">
            <a:avLst/>
          </a:prstGeom>
          <a:solidFill>
            <a:srgbClr val="2A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55117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5CF5"/>
                </a:solidFill>
              </a:rPr>
              <a:t>  2. 查出来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880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Dataview 查询 ✅ + QMD 语义搜索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3337560"/>
            <a:ext cx="5029200" cy="347472"/>
          </a:xfrm>
          <a:prstGeom prst="rect">
            <a:avLst/>
          </a:prstGeom>
          <a:solidFill>
            <a:srgbClr val="2A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37413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5CF5"/>
                </a:solidFill>
              </a:rPr>
              <a:t>  3. 选出来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033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D3.js 自定义图谱 ✅（比 Obsidian 原生更强）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0" y="4160520"/>
            <a:ext cx="5029200" cy="347472"/>
          </a:xfrm>
          <a:prstGeom prst="rect">
            <a:avLst/>
          </a:prstGeom>
          <a:solidFill>
            <a:srgbClr val="2A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5160" y="419709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5CF5"/>
                </a:solidFill>
              </a:rPr>
              <a:t>  4. 讲出去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5262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0FF"/>
                </a:solidFill>
              </a:rPr>
              <a:t>    python-pptx 自动生成 PPT 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github.com/yjs760601/obsidian-llm-wiki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咱们方案技术栈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2834640" cy="48463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834640" cy="73152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194560" cy="384048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Obsidian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本地 Markdown 文件库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双向链接图谱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089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社区插件生态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70332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Git 版本控制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97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CLAUDE.md 规范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188720"/>
            <a:ext cx="2834640" cy="48463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188720"/>
            <a:ext cx="2834640" cy="73152"/>
          </a:xfrm>
          <a:prstGeom prst="rect">
            <a:avLst/>
          </a:prstGeom>
          <a:solidFill>
            <a:srgbClr val="4EF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371600"/>
            <a:ext cx="2194560" cy="384048"/>
          </a:xfrm>
          <a:prstGeom prst="rect">
            <a:avLst/>
          </a:prstGeom>
          <a:solidFill>
            <a:srgbClr val="4EF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1417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OpenClaw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19202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AI Agent 执行引擎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5146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飞书/微信通道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1089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Skills 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70332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Cron 自动化任务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297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QMD 语义搜索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1188720"/>
            <a:ext cx="2834640" cy="48463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1188720"/>
            <a:ext cx="2834640" cy="73152"/>
          </a:xfrm>
          <a:prstGeom prst="rect">
            <a:avLst/>
          </a:prstGeom>
          <a:solidFill>
            <a:srgbClr val="FF9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1371600"/>
            <a:ext cx="1920240" cy="384048"/>
          </a:xfrm>
          <a:prstGeom prst="rect">
            <a:avLst/>
          </a:prstGeom>
          <a:solidFill>
            <a:srgbClr val="FF9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1417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自动化脚本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19202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auto_ingest.py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5146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ingest_inbound.py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1089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lint_wiki.py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70332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D3.js 图谱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297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python-pptx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1160" y="1188720"/>
            <a:ext cx="2834640" cy="48463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81160" y="1188720"/>
            <a:ext cx="2834640" cy="73152"/>
          </a:xfrm>
          <a:prstGeom prst="rect">
            <a:avLst/>
          </a:prstGeom>
          <a:solidFill>
            <a:srgbClr val="FF6B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1371600"/>
            <a:ext cx="1828800" cy="384048"/>
          </a:xfrm>
          <a:prstGeom prst="rect">
            <a:avLst/>
          </a:prstGeom>
          <a:solidFill>
            <a:srgbClr val="FF6B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64040" y="1417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内容渠道 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192024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飞书文件/云文档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25146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任意 URL 抓取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31089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Obsidian Clipper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370332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Web Clipper → Clippings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4297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Cron 监控 raw/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github.com/yjs760601/obsidian-llm-wiki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自动化配置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11887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73152" cy="1188720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2103120" cy="384048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1325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raw/ 监控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325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5CF5"/>
                </a:solidFill>
              </a:rPr>
              <a:t>每 15 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扫描 Clippings/ + raw/ 新文件，触发 auto_ingest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14600"/>
            <a:ext cx="11247120" cy="11887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73152" cy="1188720"/>
          </a:xfrm>
          <a:prstGeom prst="rect">
            <a:avLst/>
          </a:prstGeom>
          <a:solidFill>
            <a:srgbClr val="4EF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06040"/>
            <a:ext cx="2468880" cy="384048"/>
          </a:xfrm>
          <a:prstGeom prst="rect">
            <a:avLst/>
          </a:prstGeom>
          <a:solidFill>
            <a:srgbClr val="4EF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19" y="2651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Auto-Ingest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2651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FF9C"/>
                </a:solidFill>
              </a:rPr>
              <a:t>周 1/3/5 05:00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1546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深度 ingest：生成 summary + 更新 index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11247120" cy="11887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73152" cy="1188720"/>
          </a:xfrm>
          <a:prstGeom prst="rect">
            <a:avLst/>
          </a:prstGeom>
          <a:solidFill>
            <a:srgbClr val="FF9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931920"/>
            <a:ext cx="2468880" cy="384048"/>
          </a:xfrm>
          <a:prstGeom prst="rect">
            <a:avLst/>
          </a:prstGeom>
          <a:solidFill>
            <a:srgbClr val="FF9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19" y="397763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Weekly Lint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3977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C4E"/>
                </a:solidFill>
              </a:rPr>
              <a:t>每周日 06:00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80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lint_wiki.py 健康检查，结果推飞书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166359"/>
            <a:ext cx="11247120" cy="11887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166359"/>
            <a:ext cx="73152" cy="1188720"/>
          </a:xfrm>
          <a:prstGeom prst="rect">
            <a:avLst/>
          </a:prstGeom>
          <a:solidFill>
            <a:srgbClr val="FF6B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257799"/>
            <a:ext cx="1828800" cy="384048"/>
          </a:xfrm>
          <a:prstGeom prst="rect">
            <a:avLst/>
          </a:prstGeom>
          <a:solidFill>
            <a:srgbClr val="FF6B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19" y="530351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飞书文件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9C"/>
                </a:solidFill>
              </a:rPr>
              <a:t>实时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发文件给机器人，自动下载入库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github.com/yjs760601/obsidian-llm-wiki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当前状态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EFF9C"/>
                </a:solidFill>
              </a:rPr>
              <a:t>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Obsidian Vault 结构（wiki/raw/log/audit/output）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EFF9C"/>
                </a:solidFill>
              </a:rPr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auto_ingest.py — TF-IDF 自动 summary 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EFF9C"/>
                </a:solidFill>
              </a:rPr>
              <a:t>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ingest_inbound.py — 4 个内容渠道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3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EFF9C"/>
                </a:solidFill>
              </a:rPr>
              <a:t>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346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D3.js 交互式图谱（纯 JS，无 CDN）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EFF9C"/>
                </a:solidFill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3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lint_wiki.py + Weekly Lint Cron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EFF9C"/>
                </a:solidFill>
              </a:rPr>
              <a:t>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31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QMD 语义搜索（Gateway 重启生效）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805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EFF9C"/>
                </a:solidFill>
              </a:rP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48055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Dataview 查询示例 + Marp PPT 模板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29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EFF9C"/>
                </a:solidFill>
              </a:rP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4 张参考图 + PPT 完整版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1188720"/>
            <a:ext cx="5303520" cy="48463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1188720"/>
            <a:ext cx="5303520" cy="73152"/>
          </a:xfrm>
          <a:prstGeom prst="rect">
            <a:avLst/>
          </a:prstGeom>
          <a:solidFill>
            <a:srgbClr val="FF9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9C4E"/>
                </a:solidFill>
              </a:rPr>
              <a:t>进行中 / 待完成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920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9C4E"/>
                </a:solidFill>
              </a:rPr>
              <a:t>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1920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QMD Gateway 重启后生效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9C4E"/>
                </a:solidFill>
              </a:rPr>
              <a:t>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265176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语义矛盾检测（lint 不查语义，需 LLM）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9C4E"/>
                </a:solidFill>
              </a:rPr>
              <a:t>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338328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概念页聚合（同主题 summary → 概念页）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github.com/yjs760601/obsidian-llm-wiki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🚀 快速上手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760720" cy="237744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760720" cy="73152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02920" cy="502920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4173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C5CF5"/>
                </a:solidFill>
              </a:rPr>
              <a:t>装插件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031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Obsidian 装 Dataview + Marp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5176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Obsidian Git 插件连接 GitHub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760720" cy="237744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760720" cy="73152"/>
          </a:xfrm>
          <a:prstGeom prst="rect">
            <a:avLst/>
          </a:prstGeom>
          <a:solidFill>
            <a:srgbClr val="4EF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371600"/>
            <a:ext cx="502920" cy="502920"/>
          </a:xfrm>
          <a:prstGeom prst="rect">
            <a:avLst/>
          </a:prstGeom>
          <a:solidFill>
            <a:srgbClr val="4EF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38988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4173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EFF9C"/>
                </a:solidFill>
              </a:rPr>
              <a:t>内容入库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1031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Clipper 抓文章 → 自动入库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65176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飞书发文件 / 发链接给机器人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749039"/>
            <a:ext cx="5760720" cy="237744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749039"/>
            <a:ext cx="5760720" cy="73152"/>
          </a:xfrm>
          <a:prstGeom prst="rect">
            <a:avLst/>
          </a:prstGeom>
          <a:solidFill>
            <a:srgbClr val="FF9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931920"/>
            <a:ext cx="502920" cy="502920"/>
          </a:xfrm>
          <a:prstGeom prst="rect">
            <a:avLst/>
          </a:prstGeom>
          <a:solidFill>
            <a:srgbClr val="FF9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950207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977639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9C4E"/>
                </a:solidFill>
              </a:rPr>
              <a:t>查询知识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634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在 Obsidian 用 Dataview 查询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212079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或者直接问我（小桃子）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749039"/>
            <a:ext cx="5760720" cy="237744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3749039"/>
            <a:ext cx="5760720" cy="73152"/>
          </a:xfrm>
          <a:prstGeom prst="rect">
            <a:avLst/>
          </a:prstGeom>
          <a:solidFill>
            <a:srgbClr val="FF6B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3931920"/>
            <a:ext cx="502920" cy="502920"/>
          </a:xfrm>
          <a:prstGeom prst="rect">
            <a:avLst/>
          </a:prstGeom>
          <a:solidFill>
            <a:srgbClr val="FF6B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950207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977639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9C"/>
                </a:solidFill>
              </a:rPr>
              <a:t>查看图谱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6634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打开 output/wiki-graph.html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5212079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拖拽/搜索/双击跳转 Obsidian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github.com/yjs760601/obsidian-llm-wiki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
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0"/>
            <a:ext cx="4572000" cy="3657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-457200"/>
            <a:ext cx="2743200" cy="2743200"/>
          </a:xfrm>
          <a:prstGeom prst="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4480560" cy="502920"/>
          </a:xfrm>
          <a:prstGeom prst="round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OpenClaw × Obsidian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LLM Wiki 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0FF"/>
                </a:solidFill>
              </a:rPr>
              <a:t>用 OpenClaw + Obsidian 打造"会自己生长"的知识库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BB"/>
                </a:solidFill>
              </a:rPr>
              <a:t>来源：微信公众号 赖翔  |  2026年4月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BB"/>
                </a:solidFill>
              </a:rPr>
              <a:t>复刻 Karpathy 大神提出的 AI 知识库自进化架构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什么是 LLM Wiki 模式？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5CF5"/>
                </a:solidFill>
              </a:rPr>
              <a:t>💡  核心思想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让 LLM 自己管理和组织知识库——不是把 AI 当工具，而是让它参与知识的生产、索引和更新过程，形成一个「会自己生长」的知识体系。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C4E"/>
                </a:solidFill>
              </a:rPr>
              <a:t>📌  来源背景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2026年4月初，Andrej Karpathy（OpenAI 联合创始人、AI 界顶流）发推提出此模式，立即引发 AI 玩家圈广泛讨论。核心灵感来自 Wikipedia 的协作模式，但由 AI 驱动。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474720" cy="822960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摄入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BB"/>
                </a:solidFill>
              </a:rPr>
              <a:t>新内容入库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822960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BB"/>
                </a:solidFill>
              </a:rPr>
              <a:t>精准信息检索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931920"/>
            <a:ext cx="3474720" cy="822960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健康检查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BB"/>
                </a:solidFill>
              </a:rPr>
              <a:t>质量持续优化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三种核心工作流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C5CF5"/>
                </a:solidFill>
              </a:rPr>
              <a:t>INGEST  ·  QUERY  ·  LINT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73152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EFF9C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BB"/>
                </a:solidFill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摄入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EFF9C"/>
                </a:solidFill>
              </a:rPr>
              <a:t>放入新文章/数据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34747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LLM 读取原始素材（PDF、网页、笔记）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21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分析内容，提炼知识点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885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自动更新 Wiki 索引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554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追加到操作日志 log.md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188720"/>
            <a:ext cx="3749039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188720"/>
            <a:ext cx="3749039" cy="73152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9C4E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572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BB"/>
                </a:solidFill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9C4E"/>
                </a:solidFill>
              </a:rPr>
              <a:t>你提问 → LLM 精准回答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017520"/>
            <a:ext cx="34747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用户用自然语言提问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21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LLM 先读 index.md 定位相关页面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885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搜索 Wiki 找相关知识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554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回答用户，好的答案自动存为新 Wiki 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188720"/>
            <a:ext cx="3749039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1188720"/>
            <a:ext cx="3749039" cy="73152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9C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1572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BB"/>
                </a:solidFill>
              </a:rPr>
              <a:t>LINT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健康检查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6B9C"/>
                </a:solidFill>
              </a:rPr>
              <a:t>定期维护知识库质量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017520"/>
            <a:ext cx="34747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检查知识矛盾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721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找出孤儿页（无引用页面）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2885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标记过时声明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8554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▸  补充缺失的引用关系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两个关键文件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4846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73152"/>
          </a:xfrm>
          <a:prstGeom prst="rect">
            <a:avLst/>
          </a:prstGeom>
          <a:solidFill>
            <a:srgbClr val="4E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45920" cy="457200"/>
          </a:xfrm>
          <a:prstGeom prst="round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EFFD4"/>
                </a:solidFill>
              </a:rPr>
              <a:t>index.md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内容导向索引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53035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LLM 查询时第一个读取的文件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4728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按主题分类，链接到各个 Wiki 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056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像书的目录，但由 AI 动态维护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6402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新增内容后自动更新索引结构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669280" cy="4846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69280" cy="73152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1645920" cy="457200"/>
          </a:xfrm>
          <a:prstGeom prst="round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EFFD4"/>
                </a:solidFill>
              </a:rPr>
              <a:t>log.md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追加式操作日志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606040"/>
            <a:ext cx="53035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每次 LLM 操作都追加记录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4728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固定前缀格式（时间戳+操作类型）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056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可用 Unix 工具（grep/awk）解析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6402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FF"/>
                </a:solidFill>
              </a:rPr>
              <a:t>•  可回溯、可审计、可重现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OpenClaw + Obsidian = 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5CF5"/>
                </a:solidFill>
              </a:rPr>
              <a:t>LLM Wiki 的完美载体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73152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C5CF5"/>
                </a:solidFill>
              </a:rPr>
              <a:t>🤖  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0FF"/>
                </a:solidFill>
              </a:rPr>
              <a:t>充当 LLM Wiki 的「执行引擎」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24/7 在线，自动响应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记忆系统积累人格和偏好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Skills 系统扩展能力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支持飞书、微信等多渠道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Obsidian MCP 连接笔记库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自动化定期执行 Lint 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Webhook 触发自动化流程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AAABB"/>
                </a:solidFill>
              </a:rPr>
              <a:t>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0352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5303520" cy="73152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FF9C"/>
                </a:solidFill>
              </a:rPr>
              <a:t>📓  Obsidian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0FF"/>
                </a:solidFill>
              </a:rPr>
              <a:t>充当 LLM Wiki 的「存储层」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本地 Markdown 文件，AI 直接读写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双向链接构建知识图谱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图谱视图可视化知识关系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插件生态（5000+ 插件）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34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Git 版本控制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完全私有，不依赖云服务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✓  CLAUDE.md 注入项目规范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自动化工作流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103120" cy="2560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03120" cy="64008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C5CF5"/>
                </a:solidFill>
              </a:rPr>
              <a:t>📥 摄入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放入素材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PDF/网页/笔记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2377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2103120" cy="2560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371600"/>
            <a:ext cx="2103120" cy="64008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EFF9C"/>
                </a:solidFill>
              </a:rPr>
              <a:t>🧠 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LLM 提炼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知识点提取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371600"/>
            <a:ext cx="2103120" cy="2560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371600"/>
            <a:ext cx="2103120" cy="64008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C4E"/>
                </a:solidFill>
              </a:rPr>
              <a:t>📝 写入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更新 Wiki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修改 index.md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77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371600"/>
            <a:ext cx="2103120" cy="2560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371600"/>
            <a:ext cx="2103120" cy="64008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9C"/>
                </a:solidFill>
              </a:rPr>
              <a:t>📋 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追加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操作留痕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377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1371600"/>
            <a:ext cx="2103120" cy="2560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41280" y="1371600"/>
            <a:ext cx="2103120" cy="64008"/>
          </a:xfrm>
          <a:prstGeom prst="rect">
            <a:avLst/>
          </a:prstGeom>
          <a:solidFill>
            <a:srgbClr val="4E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9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EFFD4"/>
                </a:solidFill>
              </a:rPr>
              <a:t>🔍 查询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自然语言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9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FF"/>
                </a:solidFill>
              </a:rPr>
              <a:t>精准回答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97680"/>
            <a:ext cx="11430000" cy="164592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C4E"/>
                </a:solidFill>
              </a:rPr>
              <a:t>🛠️  定期 LINT 健康检查（OpenClaw Cron 自动执行）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检查矛盾：同一主题的新旧观点是否冲突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40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孤儿页扫描：哪些页面没有被任何页面引用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过时声明：事实是否已发生变化需要更新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40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引用修复：补充 Wiki 页面之间的链接关系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457200"/>
            <a:ext cx="6400800" cy="777240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5CF5"/>
                </a:solidFill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不是 AI 帮你找知识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而是让 AI 成为知识生产的一环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5CF5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知识是动态的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不是静态存档，是会自己更新的生命体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5CF5"/>
                </a:solidFill>
              </a:rPr>
              <a:t>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两层架构最稳定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OpenClaw（执行）+ Obsidian（存储）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5CF5"/>
                </a:solidFill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飞轮效应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用得越多，知识库越精准，越有价值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914400"/>
            <a:ext cx="6583680" cy="50292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914400"/>
            <a:ext cx="73152" cy="502920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91440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6C5CF5"/>
                </a:solidFill>
              </a:rPr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64592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E0FF"/>
                </a:solidFill>
              </a:rPr>
              <a:t>LLM Wiki 的本质是：
让 AI 参与知识的生产、
组织与更新，
形成一个自进化的知识飞轮。
不是你在管理知识库，
是知识库自己在成长。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486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— 复刻自 Andrej Karpathy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1：搭建 Obsidian Vault 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5CF5"/>
                </a:solidFill>
              </a:rPr>
              <a:t>推荐三层架构：raw → wiki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347472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49039" cy="64008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371600" cy="457200"/>
          </a:xfrm>
          <a:prstGeom prst="round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raw/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原始素材层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PDF、文章、网页摘录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会议记录、灵感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所有未处理的原始内容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AAABB"/>
                </a:solidFill>
              </a:rPr>
              <a:t>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188720"/>
            <a:ext cx="3749039" cy="34747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188720"/>
            <a:ext cx="3749039" cy="64008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371600"/>
            <a:ext cx="1371600" cy="457200"/>
          </a:xfrm>
          <a:prstGeom prst="round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wiki/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知识 Wiki 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index.md（总索引）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63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主题页：AI/编程/产品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每个概念一个 .md 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5603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AAABB"/>
                </a:solidFill>
              </a:rPr>
              <a:t>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188720"/>
            <a:ext cx="3749039" cy="3474720"/>
          </a:xfrm>
          <a:prstGeom prst="rect">
            <a:avLst/>
          </a:prstGeom>
          <a:solidFill>
            <a:srgbClr val="3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188720"/>
            <a:ext cx="3749039" cy="64008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8200" y="1371600"/>
            <a:ext cx="1371600" cy="457200"/>
          </a:xfrm>
          <a:prstGeom prst="round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输出层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68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每周摘要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063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研究报告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•  沉淀的洞见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8EFF"/>
                </a:solidFill>
              </a:rPr>
              <a:t>🔑  必须创建的文件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index.md（内容索引）+ log.md（操作日志） + CLAUDE.md（AI 规范） + SCHEMA.md（模板规范）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2：连接 OpenClaw 与 Obsidian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5CF5"/>
                </a:solidFill>
              </a:rPr>
              <a:t>通过 MCP 和 Skills 实现双向通信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64008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5CF5"/>
                </a:solidFill>
              </a:rPr>
              <a:t>OpenClaw 配置 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编辑配置文件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openclaw.yaml 添加 Obsidian MCP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安装 Obsidian 插件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Community Plugin: Obsidian Git（自动同步）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69079"/>
            <a:ext cx="457200" cy="45720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690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配置 vault 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~/.config/openclaw/mcp_settings.json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48640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5486400" cy="64008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EFF9C"/>
                </a:solidFill>
              </a:rPr>
              <a:t>核心 Skill（开箱即用）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920240"/>
            <a:ext cx="1463040" cy="384048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8EFF"/>
                </a:solidFill>
              </a:rPr>
              <a:t>obsidian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9202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读写 Obsidian 笔记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267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直接修改 vault 里的 md 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670048"/>
            <a:ext cx="1463040" cy="384048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8EFF"/>
                </a:solidFill>
              </a:rPr>
              <a:t>filesystem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670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文件系统操作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创建目录、移动文件、自动分类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419856"/>
            <a:ext cx="1463040" cy="384048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8EFF"/>
                </a:solidFill>
              </a:rPr>
              <a:t>web-search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419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网络搜索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767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摄入新内容时抓取网页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169664"/>
            <a:ext cx="1463040" cy="384048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8EFF"/>
                </a:solidFill>
              </a:rPr>
              <a:t>cron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69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定时任务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5171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定期执行 Lint 健康检查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919472"/>
            <a:ext cx="1463040" cy="384048"/>
          </a:xfrm>
          <a:prstGeom prst="roundRect">
            <a:avLst/>
          </a:prstGeom>
          <a:solidFill>
            <a:srgbClr val="3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8EFF"/>
                </a:solidFill>
              </a:rPr>
              <a:t>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9194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266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跨会话积累偏好和上下文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3：Ingest — 让 AI 自动摄入新知识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5CF5"/>
                </a:solidFill>
              </a:rPr>
              <a:t>收到素材 → 分析 → 写入 Wiki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43200" cy="32004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743200" cy="64008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5CF5"/>
                </a:solidFill>
              </a:rPr>
              <a:t>触发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5603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你：把这篇文章存入知识库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（或者 OpenClaw 自动监控 RSS/邮件）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88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743200" cy="32004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743200" cy="64008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FF9C"/>
                </a:solidFill>
              </a:rPr>
              <a:t>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011680"/>
            <a:ext cx="25603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LLM 读取 raw/ 里的原始内容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提炼：主题、概念、关键观点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识别：与现有 Wiki 的关联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4688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2743200" cy="32004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234440"/>
            <a:ext cx="2743200" cy="64008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C4E"/>
                </a:solidFill>
              </a:rPr>
              <a:t>写入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011680"/>
            <a:ext cx="25603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更新 wiki/ 下的相关页面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补充 [[双向链接]] 关系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修改 index.md 索引结构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4688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234440"/>
            <a:ext cx="2743200" cy="32004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1234440"/>
            <a:ext cx="2743200" cy="64008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9C"/>
                </a:solidFill>
              </a:rPr>
              <a:t>记录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011680"/>
            <a:ext cx="2560320" cy="22860"/>
          </a:xfrm>
          <a:prstGeom prst="rect">
            <a:avLst/>
          </a:prstGeom>
          <a:solidFill>
            <a:srgbClr val="3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追加到 log.md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格式：[时间戳] INGEST - 操作描述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</a:rPr>
              <a:t>可用于回溯和审计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63440"/>
            <a:ext cx="11430000" cy="137160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00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8EFF"/>
                </a:solidFill>
              </a:rPr>
              <a:t>💬 触发 Prompt 示例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0FF"/>
                </a:solidFill>
              </a:rPr>
              <a:t>"把这篇关于 RAG 的文章存入知识库。我希望：1) 提炼 3 个核心观点  2) 更新相关主题页的链接  3) 在 index.md 添加入口"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4 &amp; 5：Query 查询 + Lint 健康检查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64008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C4E"/>
                </a:solidFill>
              </a:rPr>
              <a:t>🔍  Query 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1. 你提出自然语言问题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2. OpenClaw 读取 index.md 定位相关页面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3. 在 wiki/ 中搜索相关内容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4. LLM 整合多个来源回答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5. 好答案自动存为新 Wiki 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</a:rPr>
              <a:t>▸  6. 更新 index.md 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8EFF"/>
                </a:solidFill>
              </a:rPr>
              <a:t>💬 示例问题：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FF"/>
                </a:solidFill>
              </a:rPr>
              <a:t>"RAG 和 LLM Wiki 的核心区别是什么？"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577840" cy="4754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577840" cy="64008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C"/>
                </a:solidFill>
              </a:rPr>
              <a:t>🛠️  Lint 健康检查（定时自动）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9C"/>
                </a:solidFill>
              </a:rPr>
              <a:t>🔀 矛盾检测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67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同一主题的新旧观点是否冲突？标记需要复核的页面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24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9C"/>
                </a:solidFill>
              </a:rPr>
              <a:t>📄 孤儿页扫描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72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哪些页面没有被任何页面引用？补上 [[链接]] 或删除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9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9C"/>
                </a:solidFill>
              </a:rPr>
              <a:t>⏰ 过时声明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770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哪些内容可能已过期？标记为「待验证」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34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9C"/>
                </a:solidFill>
              </a:rPr>
              <a:t>🔗 引用修复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是否有关键引用缺失？补充相关页面链接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38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9C"/>
                </a:solidFill>
              </a:rPr>
              <a:t>📊 统计报告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本周新增多少页面？最活跃的主题是什么？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394960"/>
            <a:ext cx="5577840" cy="64008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86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C4E"/>
                </a:solidFill>
              </a:rPr>
              <a:t>⏰  建议每周一自动运行一次 Lint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🚀 快速上手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5CF5"/>
                </a:solidFill>
              </a:rPr>
              <a:t>30 分钟启动你的 LLM Wiki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54864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5CF5"/>
                </a:solidFill>
              </a:rPr>
              <a:t>Obsidian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创建 vault，搭好 raw/wiki/output 三层目录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669280" cy="54864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02920" cy="502920"/>
          </a:xfrm>
          <a:prstGeom prst="rect">
            <a:avLst/>
          </a:prstGeom>
          <a:solidFill>
            <a:srgbClr val="4EF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35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FF9C"/>
                </a:solidFill>
              </a:rPr>
              <a:t>index.md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创建入口索引文件，包含各主题分类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23160"/>
            <a:ext cx="5669280" cy="54864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solidFill>
            <a:srgbClr val="FF6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24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9C"/>
                </a:solidFill>
              </a:rPr>
              <a:t>log.md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创建操作日志文件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2316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423160"/>
            <a:ext cx="5669280" cy="54864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606040"/>
            <a:ext cx="502920" cy="502920"/>
          </a:xfrm>
          <a:prstGeom prst="rect">
            <a:avLst/>
          </a:prstGeom>
          <a:solidFill>
            <a:srgbClr val="FF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24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C4E"/>
                </a:solidFill>
              </a:rPr>
              <a:t>CLAUDE.md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写好 AI 行为规范（角色、能力边界）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1188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611880"/>
            <a:ext cx="5669280" cy="54864"/>
          </a:xfrm>
          <a:prstGeom prst="rect">
            <a:avLst/>
          </a:prstGeom>
          <a:solidFill>
            <a:srgbClr val="4E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solidFill>
            <a:srgbClr val="4E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13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FFD4"/>
                </a:solidFill>
              </a:rPr>
              <a:t>OpenClaw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连接 Obsidian vault 路径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61188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611880"/>
            <a:ext cx="5669280" cy="54864"/>
          </a:xfrm>
          <a:prstGeom prst="rect">
            <a:avLst/>
          </a:prstGeom>
          <a:solidFill>
            <a:srgbClr val="B3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794760"/>
            <a:ext cx="502920" cy="502920"/>
          </a:xfrm>
          <a:prstGeom prst="rect">
            <a:avLst/>
          </a:prstGeom>
          <a:solidFill>
            <a:srgbClr val="B3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813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38EFF"/>
                </a:solidFill>
              </a:rPr>
              <a:t>首次 Ingest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丢一篇文章进去，看 AI 如何处理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060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800600"/>
            <a:ext cx="5669280" cy="54864"/>
          </a:xfrm>
          <a:prstGeom prst="rect">
            <a:avLst/>
          </a:prstGeom>
          <a:solidFill>
            <a:srgbClr val="F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F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01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47A"/>
                </a:solidFill>
              </a:rPr>
              <a:t>设置 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配置每周 Lint 自动健康检查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800600"/>
            <a:ext cx="5669280" cy="100584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4800600"/>
            <a:ext cx="5669280" cy="54864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4983480"/>
            <a:ext cx="502920" cy="502920"/>
          </a:xfrm>
          <a:prstGeom prst="rect">
            <a:avLst/>
          </a:prstGeom>
          <a:solidFill>
            <a:srgbClr val="6C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001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5CF5"/>
                </a:solidFill>
              </a:rPr>
              <a:t>持续迭代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根据反馈调整 CLAUDE.md 和 wiki 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C5CF5"/>
                </a:solidFill>
              </a:rPr>
              <a:t>📊 Karpathy 三层架构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BB"/>
                </a:solidFill>
              </a:rPr>
              <a:t>图里方案 vs 咱们方案</a:t>
            </a:r>
          </a:p>
        </p:txBody>
      </p:sp>
      <p:pic>
        <p:nvPicPr>
          <p:cNvPr id="5" name="Picture 4" descr="知识库参考图_1_Karpathy三层架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58368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3720" y="914400"/>
            <a:ext cx="36576" cy="5669280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914400"/>
            <a:ext cx="5120640" cy="4572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960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FF9C"/>
                </a:solidFill>
              </a:rPr>
              <a:t>🚀 咱们方案的升级点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120640" cy="4114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BB"/>
                </a:solidFill>
              </a:rPr>
              <a:t>Raw/Wiki/Schema 层级结构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20240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1. 自动化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图里手动整理raw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33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auto_ingest 自动生成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072384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0906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2. 持续运营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图里偏静态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856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Cron 自动检测新文件、lint 健康检查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24527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2428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3. Schema 督导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CLAUDE.md 定义规则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但治理机制待完善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BB"/>
                </a:solidFill>
              </a:rPr>
              <a:t>来源：Aki聊AI  |  对比：咱们方案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C5CF5"/>
                </a:solidFill>
              </a:rPr>
              <a:t>📊 四工具工作流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BB"/>
                </a:solidFill>
              </a:rPr>
              <a:t>图里方案 vs 咱们方案</a:t>
            </a:r>
          </a:p>
        </p:txBody>
      </p:sp>
      <p:pic>
        <p:nvPicPr>
          <p:cNvPr id="5" name="Picture 4" descr="知识库参考图_1_Karpathy三层架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58368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3720" y="914400"/>
            <a:ext cx="36576" cy="5669280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914400"/>
            <a:ext cx="5120640" cy="4572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960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FF9C"/>
                </a:solidFill>
              </a:rPr>
              <a:t>🚀 咱们方案的升级点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120640" cy="4114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BB"/>
                </a:solidFill>
              </a:rPr>
              <a:t>Clipper→Dataview→Graph→Marp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20240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1. 自动化程度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图里工具独立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33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watcher 监控 + Cron 自动触发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072384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0906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2. Query 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图里用 Dataview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856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咱们用 QMD 语义搜索（更智能）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24527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2428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3.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图里用 Marp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python-pptx 自动生成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BB"/>
                </a:solidFill>
              </a:rPr>
              <a:t>来源：Aki聊AI  |  对比：咱们方案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C5CF5"/>
                </a:solidFill>
              </a:rPr>
              <a:t>📊 AI 第二大脑的价值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BB"/>
                </a:solidFill>
              </a:rPr>
              <a:t>图里方案 vs 咱们方案</a:t>
            </a:r>
          </a:p>
        </p:txBody>
      </p:sp>
      <p:pic>
        <p:nvPicPr>
          <p:cNvPr id="5" name="Picture 4" descr="知识库参考图_3_AI第二大脑价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58368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3720" y="914400"/>
            <a:ext cx="36576" cy="5669280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914400"/>
            <a:ext cx="5120640" cy="4572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960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FF9C"/>
                </a:solidFill>
              </a:rPr>
              <a:t>🚀 咱们方案的升级点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120640" cy="4114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BB"/>
                </a:solidFill>
              </a:rPr>
              <a:t>统一沉淀 / 检索复用 / 增值资产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20240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1. 统一沉淀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图里手动分类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33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auto_ingest 自动分类到 articles/papers/notes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072384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0906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2. 检索复用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图里靠 Dataview 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856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 QMD 语义搜索 + Dataview 双轨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24527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2428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3. 数字资产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咱们输出成果：wiki-graph.html、D3图谱、PPT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BB"/>
                </a:solidFill>
              </a:rPr>
              <a:t>来源：Aki聊AI  |  对比：咱们方案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C5CF5"/>
                </a:solidFill>
              </a:rPr>
              <a:t>📊 四工具详情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BB"/>
                </a:solidFill>
              </a:rPr>
              <a:t>图里方案 vs 咱们方案</a:t>
            </a:r>
          </a:p>
        </p:txBody>
      </p:sp>
      <p:pic>
        <p:nvPicPr>
          <p:cNvPr id="5" name="Picture 4" descr="知识库参考图_4_四工具详情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58368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3720" y="914400"/>
            <a:ext cx="36576" cy="5669280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914400"/>
            <a:ext cx="5120640" cy="4572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960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FF9C"/>
                </a:solidFill>
              </a:rPr>
              <a:t>🚀 咱们方案的升级点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120640" cy="4114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BB"/>
                </a:solidFill>
              </a:rPr>
              <a:t>拉进来 / 查出来 / 选出来 / 讲出去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20240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1. 拉进来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Clipper → Clippings → watcher → auto_ingest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724912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7432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2. 查出来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Dataview 查询 ✅ + QMD 语义搜索（待重启 Gateway）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529584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35478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3. 选出来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95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D3.js 自定义图谱 ✅（比 Obsidian 原生更强）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4334255"/>
            <a:ext cx="5120640" cy="347472"/>
          </a:xfrm>
          <a:prstGeom prst="rect">
            <a:avLst/>
          </a:prstGeom>
          <a:solidFill>
            <a:srgbClr val="2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352543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5CF5"/>
                </a:solidFill>
              </a:rPr>
              <a:t>  4. 讲出去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700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E0E0FF"/>
                </a:solidFill>
              </a:rPr>
              <a:t>    python-pptx 自动生成 PPT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BB"/>
                </a:solidFill>
              </a:rPr>
              <a:t>来源：Aki聊AI  |  对比：咱们方案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